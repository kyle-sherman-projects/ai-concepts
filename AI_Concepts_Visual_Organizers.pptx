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1F5F9"/>
                </a:solidFill>
              </a:rPr>
              <a:t>AI Concepts:</a:t>
            </a:r>
            <a:endParaRPr lang="en-US" sz="4800" dirty="0"/>
          </a:p>
          <a:p>
            <a:pPr algn="ctr" indent="0" marL="0">
              <a:buNone/>
            </a:pPr>
            <a:r>
              <a:rPr lang="en-US" sz="4800" b="1" dirty="0">
                <a:solidFill>
                  <a:srgbClr val="06B6D4"/>
                </a:solidFill>
              </a:rPr>
              <a:t>Visual Organizers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F1F5F9"/>
                </a:solidFill>
              </a:rPr>
              <a:t>Chapters 1-3: Russell &amp; Norvig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0" y="1188720"/>
            <a:ext cx="3657600" cy="4572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3840480"/>
            <a:ext cx="3657600" cy="45720"/>
          </a:xfrm>
          <a:prstGeom prst="rect">
            <a:avLst/>
          </a:prstGeom>
          <a:solidFill>
            <a:srgbClr val="0891B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Intelligent Agents: Architecture Hierarchy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simple reactive to complex learning systems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9144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645920"/>
            <a:ext cx="7315200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7373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Simple Reflex Agents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201168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React to current percept only • No memory • Condition-action rules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0" y="2286000"/>
            <a:ext cx="0" cy="13716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914400" y="2423160"/>
            <a:ext cx="7315200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251460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Model-Based Reflex Agents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278892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Maintain internal state • Track unobserved aspects • Use world model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0" y="3063240"/>
            <a:ext cx="0" cy="13716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914400" y="3200400"/>
            <a:ext cx="7315200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29184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Goal-Based Agents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97280" y="3566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Plan toward desired states • Search and planning • Flexible behavior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0" y="3840480"/>
            <a:ext cx="0" cy="13716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914400" y="3977640"/>
            <a:ext cx="7315200" cy="64008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0690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Utility-Based Agents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097280" y="43434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Maximize utility function • Handle trade-offs • Optimal decisions under uncertainty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Strategies: Trade-offs Matrix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uninformed and informed search algorithms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91440" cy="640080"/>
          </a:xfrm>
          <a:prstGeom prst="rect">
            <a:avLst/>
          </a:prstGeom>
          <a:solidFill>
            <a:srgbClr val="0891B2"/>
          </a:solidFill>
          <a:ln/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45920"/>
          <a:ext cx="8229600" cy="292608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645920"/>
                <a:gridCol w="1645920"/>
              </a:tblGrid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Algorithm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Complete?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Optimal?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Time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</a:rPr>
                        <a:t>Space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Breadth-First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Yes*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O(b^d)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O(b^d)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Depth-First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O(b^m)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O(bm)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Uniform-Cost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O(b^C*/ε)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O(b^C*/ε)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Iterative Deepening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</a:rPr>
                        <a:t>Yes*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O(b^d)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O(bd)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1F5F9"/>
                          </a:solidFill>
                        </a:rPr>
                        <a:t>Greedy Best-First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F4444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O(b^m)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O(b^m)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6B6D4"/>
                          </a:solidFill>
                        </a:rPr>
                        <a:t>A* Search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0B981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1F5F9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O(b^d)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59E0B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O(b^d)</a:t>
                      </a:r>
                      <a:endParaRPr lang="en-US" sz="1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891B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</a:rPr>
              <a:t>* Optimal for unit action costs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29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1F5F9"/>
                </a:solidFill>
              </a:rPr>
              <a:t>Legend: Green = Good • Amber = Exponential • Red = Not guaranteed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A* Search: Core Concepts &amp; Relationships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components of optimal informed search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9144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0" y="2286000"/>
            <a:ext cx="2743200" cy="914400"/>
          </a:xfrm>
          <a:prstGeom prst="ellipse">
            <a:avLst/>
          </a:prstGeom>
          <a:solidFill>
            <a:srgbClr val="06B6D4"/>
          </a:solidFill>
          <a:ln w="381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242316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72A"/>
                </a:solidFill>
              </a:rPr>
              <a:t>A* Search</a:t>
            </a:r>
            <a:endParaRPr lang="en-US" sz="2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f(n) = g(n) + h(n)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011680" cy="731520"/>
          </a:xfrm>
          <a:prstGeom prst="rect">
            <a:avLst/>
          </a:prstGeom>
          <a:solidFill>
            <a:srgbClr val="1E293B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891B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g(n)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Path cost from start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2468880" y="2011680"/>
            <a:ext cx="731520" cy="73152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6675120" y="1645920"/>
            <a:ext cx="2011680" cy="73152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73736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h(n)</a:t>
            </a:r>
            <a:endParaRPr lang="en-US" sz="16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Heuristic to goal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675120" y="2011680"/>
            <a:ext cx="-731520" cy="73152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57200" y="3657600"/>
            <a:ext cx="2011680" cy="73152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</a:rPr>
              <a:t>Admissible h(n)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Never overestimates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2468880" y="4023360"/>
            <a:ext cx="731520" cy="-82296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3200400" y="3840480"/>
            <a:ext cx="2743200" cy="54864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9184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0B981"/>
                </a:solidFill>
              </a:rPr>
              <a:t>Consistent h(n) → Admissible h(n)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0" y="3840480"/>
            <a:ext cx="0" cy="-64008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19" name="Shape 17"/>
          <p:cNvSpPr/>
          <p:nvPr/>
        </p:nvSpPr>
        <p:spPr>
          <a:xfrm>
            <a:off x="6675120" y="3657600"/>
            <a:ext cx="2011680" cy="731520"/>
          </a:xfrm>
          <a:prstGeom prst="rect">
            <a:avLst/>
          </a:prstGeom>
          <a:solidFill>
            <a:srgbClr val="06B6D4"/>
          </a:solidFill>
          <a:ln w="25400">
            <a:solidFill>
              <a:srgbClr val="F1F5F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0" y="374904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Optimality</a:t>
            </a:r>
            <a:endParaRPr lang="en-US" sz="14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</a:rPr>
              <a:t>Guaranteed w/ admissible h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943600" y="3200400"/>
            <a:ext cx="731520" cy="457200"/>
          </a:xfrm>
          <a:prstGeom prst="line">
            <a:avLst/>
          </a:prstGeom>
          <a:noFill/>
          <a:ln w="25400">
            <a:solidFill>
              <a:srgbClr val="06B6D4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Environment Properties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PEAS framework dimensions and their impact on agent design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9144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1645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916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Observable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194560" y="1645920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Fully Observable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297680" y="189738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4663440" y="1645920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691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Partially Observable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1645920"/>
            <a:ext cx="19202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0" y="1691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1F5F9"/>
                </a:solidFill>
              </a:rPr>
              <a:t>Affects state tracking needs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2221992"/>
            <a:ext cx="1645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26771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Deterministic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194560" y="2221992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86000" y="2267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Deterministic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297680" y="2473452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663440" y="2221992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2267712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Stochastic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766560" y="2221992"/>
            <a:ext cx="19202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0" y="2267712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1F5F9"/>
                </a:solidFill>
              </a:rPr>
              <a:t>Uncertainty handling required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2798064"/>
            <a:ext cx="1645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84378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Episodic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194560" y="2798064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86000" y="284378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Episodic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97680" y="3049524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4663440" y="2798064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2843784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Sequential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766560" y="2798064"/>
            <a:ext cx="19202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0" y="2843784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1F5F9"/>
                </a:solidFill>
              </a:rPr>
              <a:t>Planning complexity varies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374136"/>
            <a:ext cx="1645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8640" y="341985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Static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2194560" y="3374136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286000" y="341985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Static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297680" y="3625596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4663440" y="3374136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54880" y="3419856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Dynamic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766560" y="3374136"/>
            <a:ext cx="19202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0" y="3419856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1F5F9"/>
                </a:solidFill>
              </a:rPr>
              <a:t>Time pressure on decisions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950208"/>
            <a:ext cx="1645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399592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Discrete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2194560" y="3950208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286000" y="39959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Discrete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97680" y="4201668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4663440" y="3950208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754880" y="3995928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Continuous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766560" y="3950208"/>
            <a:ext cx="19202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58000" y="3995928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1F5F9"/>
                </a:solidFill>
              </a:rPr>
              <a:t>State representation method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57200" y="4526280"/>
            <a:ext cx="164592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48640" y="457200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</a:rPr>
              <a:t>Agents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2194560" y="4526280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286000" y="4572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Single-Agent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4297680" y="4777740"/>
            <a:ext cx="27432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4663440" y="4526280"/>
            <a:ext cx="2011680" cy="502920"/>
          </a:xfrm>
          <a:prstGeom prst="rect">
            <a:avLst/>
          </a:prstGeom>
          <a:solidFill>
            <a:srgbClr val="0F172A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457200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Multi-Agent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766560" y="4526280"/>
            <a:ext cx="1920240" cy="502920"/>
          </a:xfrm>
          <a:prstGeom prst="rect">
            <a:avLst/>
          </a:prstGeom>
          <a:solidFill>
            <a:srgbClr val="1E293B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858000" y="457200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F1F5F9"/>
                </a:solidFill>
              </a:rPr>
              <a:t>Competition/cooperation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Design: From Problem to Function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 for creating admissible heuristics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9144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201168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17373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123444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Relaxed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27432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Remove constraints from original problem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3566160"/>
            <a:ext cx="1737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8-puzzle: tiles can move anywhere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68880" y="2926080"/>
            <a:ext cx="13716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606040" y="1645920"/>
            <a:ext cx="201168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7373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26974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Solve Relaxed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743200" y="27432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Find optimal solution cost for relaxed version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0" y="3566160"/>
            <a:ext cx="1737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788920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Manhattan distance = min moves in relaxed space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17720" y="2926080"/>
            <a:ext cx="13716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4754880" y="1645920"/>
            <a:ext cx="201168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532120" y="17373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3" name="Text 21"/>
          <p:cNvSpPr/>
          <p:nvPr/>
        </p:nvSpPr>
        <p:spPr>
          <a:xfrm>
            <a:off x="553212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3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84632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Use as Heuristic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892040" y="27432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Relaxed cost ≤ true cost (admissible)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92040" y="3566160"/>
            <a:ext cx="1737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h(n) = sum of tile distances from goals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766560" y="2926080"/>
            <a:ext cx="137160" cy="0"/>
          </a:xfrm>
          <a:prstGeom prst="line">
            <a:avLst/>
          </a:prstGeom>
          <a:noFill/>
          <a:ln w="38100">
            <a:solidFill>
              <a:srgbClr val="0891B2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903720" y="1645920"/>
            <a:ext cx="2011680" cy="2560320"/>
          </a:xfrm>
          <a:prstGeom prst="rect">
            <a:avLst/>
          </a:prstGeom>
          <a:solidFill>
            <a:srgbClr val="1E293B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17373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0" y="1737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</a:rPr>
              <a:t>4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9516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B6D4"/>
                </a:solidFill>
              </a:rPr>
              <a:t>Verify Properties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7040880" y="274320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Check admissibility and consistency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040880" y="3566160"/>
            <a:ext cx="1737360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86600" y="361188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0EA5E9"/>
                </a:solidFill>
              </a:rPr>
              <a:t>h never overestimates; obeys triangle inequality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Bounded Rationality: Simon's Framework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real-world decision-making constraints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9144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0" y="2011680"/>
            <a:ext cx="3657600" cy="1097280"/>
          </a:xfrm>
          <a:prstGeom prst="ellipse">
            <a:avLst/>
          </a:prstGeom>
          <a:solidFill>
            <a:srgbClr val="06B6D4"/>
          </a:solidFill>
          <a:ln w="38100">
            <a:solidFill>
              <a:srgbClr val="F1F5F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834640" y="2194560"/>
            <a:ext cx="3474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Bounded Rationality</a:t>
            </a:r>
            <a:endParaRPr lang="en-US" sz="2200" dirty="0"/>
          </a:p>
          <a:p>
            <a:pPr algn="ctr" indent="0" marL="0">
              <a:buNone/>
            </a:pPr>
            <a:r>
              <a:rPr lang="en-US" sz="1300" i="1" dirty="0">
                <a:solidFill>
                  <a:srgbClr val="1E293B"/>
                </a:solidFill>
              </a:rPr>
              <a:t>Limited resources → Satisficing decisions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828800" cy="822960"/>
          </a:xfrm>
          <a:prstGeom prst="rect">
            <a:avLst/>
          </a:prstGeom>
          <a:solidFill>
            <a:srgbClr val="1E293B"/>
          </a:solidFill>
          <a:ln w="25400">
            <a:solidFill>
              <a:srgbClr val="0891B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630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Information Limits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Incomplete knowledge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of environment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286000" y="1783080"/>
            <a:ext cx="914400" cy="77724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" y="3474720"/>
            <a:ext cx="1828800" cy="822960"/>
          </a:xfrm>
          <a:prstGeom prst="rect">
            <a:avLst/>
          </a:prstGeom>
          <a:solidFill>
            <a:srgbClr val="1E293B"/>
          </a:solidFill>
          <a:ln w="254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35661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Cognitive Limits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Processing power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constraints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86000" y="3886200"/>
            <a:ext cx="914400" cy="-1325880"/>
          </a:xfrm>
          <a:prstGeom prst="line">
            <a:avLst/>
          </a:prstGeom>
          <a:noFill/>
          <a:ln w="25400">
            <a:solidFill>
              <a:srgbClr val="F59E0B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6858000" y="2377440"/>
            <a:ext cx="1828800" cy="822960"/>
          </a:xfrm>
          <a:prstGeom prst="rect">
            <a:avLst/>
          </a:prstGeom>
          <a:solidFill>
            <a:srgbClr val="1E293B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24688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Time Limits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Must decide before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deadline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0" y="2788920"/>
            <a:ext cx="-45720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>
            <a:off x="2286000" y="3840480"/>
            <a:ext cx="4572000" cy="731520"/>
          </a:xfrm>
          <a:prstGeom prst="rect">
            <a:avLst/>
          </a:prstGeom>
          <a:solidFill>
            <a:srgbClr val="0F172A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377440" y="3931920"/>
            <a:ext cx="4389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</a:rPr>
              <a:t>Result: </a:t>
            </a:r>
            <a:pPr algn="l" indent="0" marL="0">
              <a:buNone/>
            </a:pPr>
            <a:r>
              <a:rPr lang="en-US" sz="1200" i="1" dirty="0">
                <a:solidFill>
                  <a:srgbClr val="F1F5F9"/>
                </a:solidFill>
              </a:rPr>
              <a:t>Good enough solutions preferred over perfect but unattainable ones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Learning Sequence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path through core AI concepts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9144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645920"/>
            <a:ext cx="457200" cy="4572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891B2"/>
                </a:solidFill>
              </a:rPr>
              <a:t>Foundations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691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Agent types • Rationality • PEAS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85800" y="2103120"/>
            <a:ext cx="0" cy="54864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457200" y="2240280"/>
            <a:ext cx="457200" cy="45720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22860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A5E9"/>
                </a:solidFill>
              </a:rPr>
              <a:t>Problem Solving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22860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State spaces • Search formulation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697480"/>
            <a:ext cx="0" cy="54864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15" name="Shape 13"/>
          <p:cNvSpPr/>
          <p:nvPr/>
        </p:nvSpPr>
        <p:spPr>
          <a:xfrm>
            <a:off x="457200" y="2834640"/>
            <a:ext cx="457200" cy="45720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834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097280" y="28803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</a:rPr>
              <a:t>Uninformed Search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3200400" y="2880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BFS, DFS • Uniform-cost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85800" y="3291840"/>
            <a:ext cx="0" cy="54864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457200" y="342900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1" name="Text 19"/>
          <p:cNvSpPr/>
          <p:nvPr/>
        </p:nvSpPr>
        <p:spPr>
          <a:xfrm>
            <a:off x="457200" y="34290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4747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</a:rPr>
              <a:t>Informed Search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3200400" y="3474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Heuristics • A* algorithm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" y="3886200"/>
            <a:ext cx="0" cy="548640"/>
          </a:xfrm>
          <a:prstGeom prst="line">
            <a:avLst/>
          </a:prstGeom>
          <a:noFill/>
          <a:ln w="25400">
            <a:solidFill>
              <a:srgbClr val="0891B2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4023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097280" y="4069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B6D4"/>
                </a:solidFill>
              </a:rPr>
              <a:t>Advanced Topics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200400" y="4069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1F5F9"/>
                </a:solidFill>
              </a:rPr>
              <a:t>Memory bounds • Complexity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572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1F5F9"/>
                </a:solidFill>
              </a:rPr>
              <a:t>Estimated total study time: 30-40 hours for comprehensive understanding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Takeaways: Chapters 1-3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concepts to master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274320"/>
            <a:ext cx="9144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6459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45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6459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Agents are defined by perception-action cycles, not internal implementation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0EA5E9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1945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88720" y="2194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Rationality requires maximizing expected performance given available information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365760" cy="36576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743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Search effectiveness depends on environment properties (observable, deterministic, etc.)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365760" cy="36576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88720" y="32918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A* with admissible heuristics guarantees optimal solutions efficiently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40080" y="3840480"/>
            <a:ext cx="365760" cy="36576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8404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188720" y="3840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Bounded rationality explains why satisficing beats exhaustive optimization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40080" y="4389120"/>
            <a:ext cx="365760" cy="36576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3891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18872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1F5F9"/>
                </a:solidFill>
              </a:rPr>
              <a:t>Heuristic quality directly impacts search performance (effective branching factor)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Resources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365760"/>
            <a:ext cx="91440" cy="6400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645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Textbook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03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Russell &amp; Norvig, AI: A Modern Approach (4th ed.)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24231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Chapters 1-3 for foundations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27432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Online exercises at aimacode.github.io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246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Practice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Implement BFS, DFS, A* from scratch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40233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Compare heuristics on 8-puzzle, 15-puzzle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43434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Visualize search tree expansion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572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B6D4"/>
                </a:solidFill>
              </a:rPr>
              <a:t>Extensions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53035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Read about Simon's Nobel Prize work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14400" y="562356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Explore real-world applications (robotics, games)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59436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891B2"/>
                </a:solidFill>
              </a:rPr>
              <a:t>• </a:t>
            </a:r>
            <a:pPr indent="0" marL="0">
              <a:buNone/>
            </a:pPr>
            <a:r>
              <a:rPr lang="en-US" sz="1400" dirty="0">
                <a:solidFill>
                  <a:srgbClr val="F1F5F9"/>
                </a:solidFill>
              </a:rPr>
              <a:t>Study complexity theory fundamentals (P vs NP)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</a:rPr>
              <a:t>Created for AI 680 - Long Island University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Concepts Visual Organizers</dc:title>
  <dc:subject>PptxGenJS Presentation</dc:subject>
  <dc:creator>Kyle Sherman</dc:creator>
  <cp:lastModifiedBy>Kyle Sherman</cp:lastModifiedBy>
  <cp:revision>1</cp:revision>
  <dcterms:created xsi:type="dcterms:W3CDTF">2026-02-01T20:10:23Z</dcterms:created>
  <dcterms:modified xsi:type="dcterms:W3CDTF">2026-02-01T20:10:23Z</dcterms:modified>
</cp:coreProperties>
</file>